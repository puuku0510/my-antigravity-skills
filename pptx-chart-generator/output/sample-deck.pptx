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売上推移 ($)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1Q</c:v>
                  </c:pt>
                  <c:pt idx="1">
                    <c:v>2Q</c:v>
                  </c:pt>
                  <c:pt idx="2">
                    <c:v>3Q</c:v>
                  </c:pt>
                  <c:pt idx="3">
                    <c:v>4Q</c:v>
                  </c:pt>
                  <c:pt idx="4">
                    <c:v>1Q(翌)</c:v>
                  </c:pt>
                  <c:pt idx="5">
                    <c:v>2Q(翌)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75</c:v>
                </c:pt>
                <c:pt idx="2">
                  <c:v>120</c:v>
                </c:pt>
                <c:pt idx="3">
                  <c:v>110</c:v>
                </c:pt>
                <c:pt idx="4">
                  <c:v>165</c:v>
                </c:pt>
                <c:pt idx="5">
                  <c:v>210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国内市場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288D1"/>
              </a:solidFill>
              <a:effectLst/>
            </c:spPr>
          </c:dPt>
          <c:dPt>
            <c:idx val="2"/>
            <c:bubble3D val="0"/>
            <c:spPr>
              <a:solidFill>
                <a:srgbClr val="00A86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A社</c:v>
                </c:pt>
                <c:pt idx="1">
                  <c:v>B社</c:v>
                </c:pt>
                <c:pt idx="2">
                  <c:v>自社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アジア市場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288D1"/>
              </a:solidFill>
              <a:effectLst/>
            </c:spPr>
          </c:dPt>
          <c:dPt>
            <c:idx val="2"/>
            <c:bubble3D val="0"/>
            <c:spPr>
              <a:solidFill>
                <a:srgbClr val="00A86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自社</c:v>
                </c:pt>
                <c:pt idx="1">
                  <c:v>競合</c:v>
                </c:pt>
                <c:pt idx="2">
                  <c:v>その他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欧米市場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288D1"/>
              </a:solidFill>
              <a:effectLst/>
            </c:spPr>
          </c:dPt>
          <c:dPt>
            <c:idx val="2"/>
            <c:bubble3D val="0"/>
            <c:spPr>
              <a:solidFill>
                <a:srgbClr val="00A86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欧米勢</c:v>
                </c:pt>
                <c:pt idx="1">
                  <c:v>アジア勢</c:v>
                </c:pt>
                <c:pt idx="2">
                  <c:v>自社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PPTX自動生成エンジンの全レイアウト実例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プレミアム・ビジネス図解 &amp; グラフ集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pptx-chart-generator による自動構築サンプル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Ver 1.0 (配布用)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第1章：グラフ自動生成の実例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PptxGenJS を用いた折れ線・円グラフの生成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第1章：グラフ実例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主要財務パフォーマンス (KPI)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+148%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前年同期比売上成長率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98.2%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顧客継続サポート率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¥4.2B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年間フリーキャッシュフロー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45262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出典：2026年度 財務報告書より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第1章：グラフ実例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製品売上高の中長期推移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9144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5262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出典：販売管理システムデータ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第1章：グラフ実例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各セグメント別の市場シェア内訳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国内市場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645920"/>
          <a:ext cx="2560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2004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アジア市場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3246120" y="1645920"/>
          <a:ext cx="2560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1264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欧米市場</a:t>
            </a:r>
            <a:endParaRPr lang="en-US" sz="12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6172200" y="1645920"/>
          <a:ext cx="2560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第2章：図解・プロセスの自動生成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マトリクス、ステップフロー、タイムライン等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第2章：図解実例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新規事業ローンチの5ステッププロセス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1051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234440"/>
            <a:ext cx="13441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27048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企画策定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1609344" cy="201168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2140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ターゲット市場の分析と要件定義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415137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1〜2週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42616" y="1051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642616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26664" y="1234440"/>
            <a:ext cx="13441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0824" y="1527048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PoC検証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20824" y="2029968"/>
            <a:ext cx="1609344" cy="201168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2112264" y="212140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最小限のモックアップによる顧客受容性調査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76856" y="415137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3〜4週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1051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1234440"/>
            <a:ext cx="13441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1527048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開発開始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67328" y="2029968"/>
            <a:ext cx="1609344" cy="201168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768" y="212140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MVP（実用最小限の製品）の初期構築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0" y="415137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2ヶ月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35624" y="1051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135624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19672" y="1234440"/>
            <a:ext cx="13441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27048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βテスト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2029968"/>
            <a:ext cx="1609344" cy="201168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605272" y="212140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コアユーザーによる早期フィードバック収集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9864" y="415137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82128" y="1051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882128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60336" y="1527048"/>
            <a:ext cx="16093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正式公開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0336" y="2029968"/>
            <a:ext cx="1609344" cy="201168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7351776" y="2121408"/>
            <a:ext cx="1426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ローンチキャンペーンと広域プロモーション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16368" y="4151376"/>
            <a:ext cx="1097280" cy="274320"/>
          </a:xfrm>
          <a:prstGeom prst="rect">
            <a:avLst>
              <a:gd name="adj" fmla="val 13333"/>
            </a:avLst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第2章：図解実例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業務自動化による効率化の対比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カテゴリ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現状 (Before)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理想 (After)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データ入力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手動転記（ミス多発・時間消費）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自動API連携（ミスゼロ・瞬時完了）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レポーティング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毎週金曜に手動集計（2時間）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リアルタイム自動ダッシュボード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顧客対応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メール順次返信（24〜48時間）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AIアシスタントの即時自動回答（1分）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第2章：図解実例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Webマーケティングのファネル構造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26280" y="914400"/>
            <a:ext cx="4114800" cy="55961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914400"/>
            <a:ext cx="411480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認知 (10,000人)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69180" y="1572768"/>
            <a:ext cx="3429000" cy="55961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869180" y="1572768"/>
            <a:ext cx="342900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興味 (5,000人)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231136"/>
            <a:ext cx="2743200" cy="559613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231136"/>
            <a:ext cx="274320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検討 (2,000人)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54980" y="2889504"/>
            <a:ext cx="2057400" cy="559613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5554980" y="2889504"/>
            <a:ext cx="205740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 行動 (800人)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3547872"/>
            <a:ext cx="1371600" cy="559613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3547872"/>
            <a:ext cx="1371600" cy="559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5. 購入 (200人)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第2章：図解実例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市場ポジショニング分析 (2x2 Matrix)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undefined　　　　　　　　undefined 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457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914400"/>
            <a:ext cx="3200400" cy="1554480"/>
          </a:xfrm>
          <a:prstGeom prst="rect">
            <a:avLst/>
          </a:prstGeom>
          <a:solidFill>
            <a:srgbClr val="FFE8E8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9144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⚠️ ハイリスク・ローリターン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（避けるべき非効率市場）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114800" cy="1554480"/>
          </a:xfrm>
          <a:prstGeom prst="rect">
            <a:avLst/>
          </a:prstGeom>
          <a:solidFill>
            <a:srgbClr val="E8F5E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144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🚀 ハイリスク・ハイリターン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（成長・積極的開拓市場）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2468880"/>
            <a:ext cx="320040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4688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🐢 ローリスク・ローリターン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（安定的だが成長鈍化）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2468880"/>
            <a:ext cx="4114800" cy="1554480"/>
          </a:xfrm>
          <a:prstGeom prst="rect">
            <a:avLst/>
          </a:prstGeom>
          <a:solidFill>
            <a:srgbClr val="E3F2FD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46888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💎 ローリスク・ハイリターン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（参入障壁の高いブルーオーシャン）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スライド生成が完了しました！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生成されたPPTXはGoogleスライドやPowerPointで編集可能です。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お問い合わせ：your-school@example.com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 Generator Student</dc:creator>
  <cp:lastModifiedBy>Slide Generator Student</cp:lastModifiedBy>
  <cp:revision>1</cp:revision>
  <dcterms:created xsi:type="dcterms:W3CDTF">2026-05-30T10:20:32Z</dcterms:created>
  <dcterms:modified xsi:type="dcterms:W3CDTF">2026-05-30T10:20:32Z</dcterms:modified>
</cp:coreProperties>
</file>